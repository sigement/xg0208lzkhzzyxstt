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256" r:id="rId3"/>
    <p:sldId id="257" r:id="rId5"/>
    <p:sldId id="258" r:id="rId6"/>
    <p:sldId id="259" r:id="rId7"/>
    <p:sldId id="261" r:id="rId8"/>
    <p:sldId id="277" r:id="rId9"/>
    <p:sldId id="276" r:id="rId10"/>
    <p:sldId id="278" r:id="rId11"/>
    <p:sldId id="269" r:id="rId12"/>
    <p:sldId id="280" r:id="rId13"/>
    <p:sldId id="281" r:id="rId14"/>
    <p:sldId id="282" r:id="rId15"/>
    <p:sldId id="283" r:id="rId16"/>
    <p:sldId id="279" r:id="rId17"/>
    <p:sldId id="284" r:id="rId18"/>
    <p:sldId id="273" r:id="rId19"/>
    <p:sldId id="267" r:id="rId20"/>
    <p:sldId id="268" r:id="rId21"/>
    <p:sldId id="274" r:id="rId22"/>
    <p:sldId id="264" r:id="rId23"/>
    <p:sldId id="275" r:id="rId24"/>
  </p:sldIdLst>
  <p:sldSz cx="12192000" cy="6858000"/>
  <p:notesSz cx="6858000" cy="12192000"/>
  <p:embeddedFontLst>
    <p:embeddedFont>
      <p:font typeface="华文新魏" panose="02010800040101010101" charset="-122"/>
      <p:regular r:id="rId29"/>
    </p:embeddedFont>
    <p:embeddedFont>
      <p:font typeface="MiSans" panose="00000500000000000000" pitchFamily="34" charset="-120"/>
      <p:regular r:id="rId30"/>
    </p:embeddedFont>
    <p:embeddedFont>
      <p:font typeface="MiSans" panose="00000500000000000000" pitchFamily="34" charset="-122"/>
      <p:regular r:id="rId31"/>
    </p:embeddedFont>
    <p:embeddedFont>
      <p:font typeface="Calibri" panose="020F0502020204030204"/>
      <p:regular r:id="rId32"/>
      <p:bold r:id="rId33"/>
      <p:italic r:id="rId34"/>
      <p:boldItalic r:id="rId35"/>
    </p:embeddedFont>
    <p:embeddedFont>
      <p:font typeface="等线" panose="02010600030101010101" charset="-122"/>
      <p:regular r:id="rId36"/>
    </p:embeddedFont>
    <p:embeddedFont>
      <p:font typeface="WPS灵秀黑" charset="-122"/>
      <p:regular r:id="rId37"/>
    </p:embeddedFont>
    <p:embeddedFont>
      <p:font typeface="方正小标宋_GBK" panose="03000509000000000000" charset="-122"/>
      <p:regular r:id="rId38"/>
    </p:embeddedFont>
    <p:embeddedFont>
      <p:font typeface="黑体" panose="02010609060101010101" charset="-122"/>
      <p:regular r:id="rId3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1" d="100"/>
          <a:sy n="41" d="100"/>
        </p:scale>
        <p:origin x="7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11.fntdata"/><Relationship Id="rId38" Type="http://schemas.openxmlformats.org/officeDocument/2006/relationships/font" Target="fonts/font10.fntdata"/><Relationship Id="rId37" Type="http://schemas.openxmlformats.org/officeDocument/2006/relationships/font" Target="fonts/font9.fntdata"/><Relationship Id="rId36" Type="http://schemas.openxmlformats.org/officeDocument/2006/relationships/font" Target="fonts/font8.fntdata"/><Relationship Id="rId35" Type="http://schemas.openxmlformats.org/officeDocument/2006/relationships/font" Target="fonts/font7.fntdata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tags" Target="../tags/tag4.xml"/><Relationship Id="rId7" Type="http://schemas.openxmlformats.org/officeDocument/2006/relationships/image" Target="../media/image6.jpeg"/><Relationship Id="rId6" Type="http://schemas.openxmlformats.org/officeDocument/2006/relationships/tags" Target="../tags/tag3.xml"/><Relationship Id="rId5" Type="http://schemas.openxmlformats.org/officeDocument/2006/relationships/image" Target="../media/image5.jpeg"/><Relationship Id="rId4" Type="http://schemas.openxmlformats.org/officeDocument/2006/relationships/tags" Target="../tags/tag2.xml"/><Relationship Id="rId3" Type="http://schemas.openxmlformats.org/officeDocument/2006/relationships/image" Target="../media/image4.jpeg"/><Relationship Id="rId2" Type="http://schemas.openxmlformats.org/officeDocument/2006/relationships/tags" Target="../tags/tag1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jpeg"/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image" Target="../media/image19.jpeg"/><Relationship Id="rId7" Type="http://schemas.openxmlformats.org/officeDocument/2006/relationships/tags" Target="../tags/tag19.xml"/><Relationship Id="rId6" Type="http://schemas.openxmlformats.org/officeDocument/2006/relationships/image" Target="../media/image11.png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image" Target="../media/image20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image" Target="../media/image11.png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6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19-d2sjlou1bb2p4onbqa50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425651"/>
            <a:ext cx="4858529" cy="1445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华文新魏" panose="02010800040101010101" charset="-122"/>
                <a:ea typeface="华文新魏" panose="02010800040101010101" charset="-122"/>
                <a:cs typeface="MiSans" panose="00000500000000000000" pitchFamily="34" charset="-120"/>
              </a:rPr>
              <a:t>阿加莎空间诗学：秩序崩塌与重建</a:t>
            </a:r>
            <a:endParaRPr lang="en-US" sz="1600" dirty="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228600" y="5491788"/>
            <a:ext cx="656082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小组成员：刘子康，黄臻，张雨暄，申婷婷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28600" y="5928520"/>
            <a:ext cx="263652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汇报时间：2025/12/08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4-15:08:21-d2sjlpe1bb2p4onbqa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29" y="60612"/>
            <a:ext cx="7333471" cy="561584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https://kimi-img.moonshot.cn/pub/slides/slides_tmpl/image/25-09-04-15:08:19-d2sjlou1bb2p4onbqa6g.jp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96175" y="3354695"/>
            <a:ext cx="477992" cy="43538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5:08:19-d2sjlou1bb2p4onbqa70.jp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896175" y="3972560"/>
            <a:ext cx="477992" cy="43538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5:08:19-d2sjlou1bb2p4onbqa7g.jp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896175" y="4565527"/>
            <a:ext cx="477992" cy="435380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9-04-15:08:19-d2sjlou1bb2p4onbqa80.jp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896175" y="5192324"/>
            <a:ext cx="477992" cy="435380"/>
          </a:xfrm>
          <a:prstGeom prst="rect">
            <a:avLst/>
          </a:prstGeom>
        </p:spPr>
      </p:pic>
      <p:sp>
        <p:nvSpPr>
          <p:cNvPr id="9" name="Shape 0"/>
          <p:cNvSpPr/>
          <p:nvPr/>
        </p:nvSpPr>
        <p:spPr>
          <a:xfrm>
            <a:off x="191135" y="304800"/>
            <a:ext cx="466090" cy="624713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1"/>
          <p:cNvSpPr/>
          <p:nvPr/>
        </p:nvSpPr>
        <p:spPr>
          <a:xfrm>
            <a:off x="191135" y="304800"/>
            <a:ext cx="466090" cy="6247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2"/>
          <p:cNvSpPr/>
          <p:nvPr>
            <p:custDataLst>
              <p:tags r:id="rId10"/>
            </p:custDataLst>
          </p:nvPr>
        </p:nvSpPr>
        <p:spPr>
          <a:xfrm>
            <a:off x="7346153" y="3345763"/>
            <a:ext cx="3338024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空间诗学：从背景到行动元</a:t>
            </a:r>
            <a:endParaRPr lang="en-US" sz="1600" dirty="0"/>
          </a:p>
        </p:txBody>
      </p:sp>
      <p:sp>
        <p:nvSpPr>
          <p:cNvPr id="12" name="Text 3"/>
          <p:cNvSpPr/>
          <p:nvPr>
            <p:custDataLst>
              <p:tags r:id="rId11"/>
            </p:custDataLst>
          </p:nvPr>
        </p:nvSpPr>
        <p:spPr>
          <a:xfrm>
            <a:off x="7357919" y="3972560"/>
            <a:ext cx="3338024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数据收集与预处理</a:t>
            </a:r>
            <a:endParaRPr lang="en-US" sz="1600" dirty="0"/>
          </a:p>
        </p:txBody>
      </p:sp>
      <p:sp>
        <p:nvSpPr>
          <p:cNvPr id="14" name="Text 5"/>
          <p:cNvSpPr/>
          <p:nvPr>
            <p:custDataLst>
              <p:tags r:id="rId12"/>
            </p:custDataLst>
          </p:nvPr>
        </p:nvSpPr>
        <p:spPr>
          <a:xfrm>
            <a:off x="7374167" y="4617815"/>
            <a:ext cx="3338024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</a:t>
            </a:r>
            <a:r>
              <a:rPr lang="zh-CN" altLang="en-US" sz="20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分析</a:t>
            </a:r>
            <a:r>
              <a:rPr lang="en-US" sz="20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与关联模型</a:t>
            </a:r>
            <a:endParaRPr lang="en-US" sz="1600" dirty="0"/>
          </a:p>
        </p:txBody>
      </p:sp>
      <p:sp>
        <p:nvSpPr>
          <p:cNvPr id="15" name="Text 6"/>
          <p:cNvSpPr/>
          <p:nvPr>
            <p:custDataLst>
              <p:tags r:id="rId13"/>
            </p:custDataLst>
          </p:nvPr>
        </p:nvSpPr>
        <p:spPr>
          <a:xfrm>
            <a:off x="7346525" y="5263038"/>
            <a:ext cx="3683921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研究结论</a:t>
            </a:r>
            <a:endParaRPr lang="zh-CN" altLang="en-US" sz="2000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0-d2sjlp61bb2p4onbqabg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201772" cy="68634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80324" y="3429000"/>
            <a:ext cx="6003310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空间诗学：从背景到行动元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680324" y="2117249"/>
            <a:ext cx="6762322" cy="11049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CHAPTER.01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396133" y="0"/>
            <a:ext cx="575002" cy="762000"/>
          </a:xfrm>
          <a:prstGeom prst="rect">
            <a:avLst/>
          </a:prstGeom>
          <a:solidFill>
            <a:srgbClr val="A20F11"/>
          </a:solidFill>
        </p:spPr>
      </p:sp>
      <p:sp>
        <p:nvSpPr>
          <p:cNvPr id="6" name="Text 3"/>
          <p:cNvSpPr/>
          <p:nvPr/>
        </p:nvSpPr>
        <p:spPr>
          <a:xfrm>
            <a:off x="11396133" y="0"/>
            <a:ext cx="575002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4-d2sjlq61bb2p4onbqakg.jpe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9891"/>
            <a:ext cx="12206748" cy="68777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11650" y="608330"/>
            <a:ext cx="7604125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阿加莎</a:t>
            </a:r>
            <a:r>
              <a:rPr lang="zh-CN" altLang="en-US" sz="4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的</a:t>
            </a:r>
            <a:r>
              <a:rPr lang="en-US" sz="4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空间不是布景而是角色</a:t>
            </a:r>
            <a:endParaRPr lang="en-US" sz="1600" dirty="0"/>
          </a:p>
        </p:txBody>
      </p:sp>
      <p:sp>
        <p:nvSpPr>
          <p:cNvPr id="4" name="Text 1"/>
          <p:cNvSpPr/>
          <p:nvPr>
            <p:custDataLst>
              <p:tags r:id="rId2"/>
            </p:custDataLst>
          </p:nvPr>
        </p:nvSpPr>
        <p:spPr>
          <a:xfrm>
            <a:off x="215681" y="2449130"/>
            <a:ext cx="3772025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空间的双重身份</a:t>
            </a:r>
            <a:endParaRPr lang="en-US" sz="1600" dirty="0"/>
          </a:p>
        </p:txBody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323698" y="3032220"/>
            <a:ext cx="3555990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在阿加莎·克里斯蒂的小说中，空间不仅是故事发生的场所，更是推动情节发展的关键角色。它以几何秩序开场，如车厢编号、房间分配，象征着现代理性对混沌的驯服。</a:t>
            </a:r>
            <a:endParaRPr lang="en-US" sz="16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4204496" y="2449130"/>
            <a:ext cx="3772025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空间的叙事转变</a:t>
            </a: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4312513" y="3032220"/>
            <a:ext cx="3555990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当谋杀发生，空间从背景升格为共谋者。它的走廊、时差、隔音成为不在场证明的零件，也构成读者与侦探共同面对的谜面，空间的叙事功能被彻底激活。</a:t>
            </a:r>
            <a:endParaRPr lang="en-US" sz="16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8221206" y="2449130"/>
            <a:ext cx="3772025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空间与叙事循环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8329223" y="3032220"/>
            <a:ext cx="3555990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这种空间的转变与侦探破案的过程同构，形成了从“有序”到“失序”再到“秩序重建”的完整叙事循环，为故事增添了丰富的层次和深度。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0-d2sjlp61bb2p4onbqabg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201772" cy="68634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164" y="3429000"/>
            <a:ext cx="600331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数据收集与预处理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680324" y="2117249"/>
            <a:ext cx="6762322" cy="11049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CHAPTER.02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396133" y="0"/>
            <a:ext cx="575002" cy="762000"/>
          </a:xfrm>
          <a:prstGeom prst="rect">
            <a:avLst/>
          </a:prstGeom>
          <a:solidFill>
            <a:srgbClr val="A20F11"/>
          </a:solidFill>
        </p:spPr>
      </p:sp>
      <p:sp>
        <p:nvSpPr>
          <p:cNvPr id="6" name="Text 3"/>
          <p:cNvSpPr/>
          <p:nvPr/>
        </p:nvSpPr>
        <p:spPr>
          <a:xfrm>
            <a:off x="11396133" y="0"/>
            <a:ext cx="575002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9-d2sjlre1bb2p4onbqarg.pn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4128"/>
            <a:ext cx="12206748" cy="686625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76980" y="1187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/>
          <a:srcRect b="9672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3929380" y="2711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</a:t>
            </a:r>
            <a:endParaRPr lang="en-US" sz="1600" dirty="0"/>
          </a:p>
        </p:txBody>
      </p:sp>
      <p:sp>
        <p:nvSpPr>
          <p:cNvPr id="13" name="文本框 12"/>
          <p:cNvSpPr txBox="1"/>
          <p:nvPr/>
        </p:nvSpPr>
        <p:spPr>
          <a:xfrm>
            <a:off x="7408545" y="3149600"/>
            <a:ext cx="42608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</a:t>
            </a:r>
            <a:r>
              <a:rPr lang="zh-CN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利用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  <a:r>
              <a:rPr lang="zh-CN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分别爬取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《</a:t>
            </a:r>
            <a:r>
              <a:rPr lang="zh-CN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无人生还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》</a:t>
            </a:r>
            <a:r>
              <a:rPr lang="zh-CN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《</a:t>
            </a:r>
            <a:r>
              <a:rPr lang="zh-CN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东方快车谋杀案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》</a:t>
            </a:r>
            <a:r>
              <a:rPr lang="zh-CN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《</a:t>
            </a:r>
            <a:r>
              <a:rPr lang="zh-CN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罗杰疑案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》</a:t>
            </a:r>
            <a:r>
              <a:rPr lang="zh-CN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中原文、电影影评、原著书评中关于空间及情感变化的相关词条</a:t>
            </a:r>
            <a:endParaRPr lang="zh-CN" altLang="en-US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49615" y="45523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"/>
            <a:ext cx="7387590" cy="6863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9-d2sjlre1bb2p4onbqarg.pn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4128"/>
            <a:ext cx="12206748" cy="686625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76980" y="1187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/>
          <a:srcRect b="9672"/>
          <a:stretch>
            <a:fillRect/>
          </a:stretch>
        </p:blipFill>
        <p:spPr>
          <a:xfrm>
            <a:off x="-15240" y="5205"/>
            <a:ext cx="12192000" cy="685660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3929380" y="2711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</a:t>
            </a:r>
            <a:endParaRPr lang="en-US" sz="1600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1650"/>
            <a:ext cx="7251700" cy="31242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0" y="3630295"/>
            <a:ext cx="8237220" cy="322008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949565" y="2155825"/>
            <a:ext cx="3372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</a:t>
            </a:r>
            <a:r>
              <a:rPr lang="zh-CN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在百度、豆瓣、微博等使用</a:t>
            </a:r>
            <a:r>
              <a:rPr lang="zh-CN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八爪鱼爬取相关影评、书评的数据汇总及清洗</a:t>
            </a:r>
            <a:endParaRPr lang="zh-CN" altLang="en-US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9-d2sjlre1bb2p4onbqarg.pn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4128"/>
            <a:ext cx="12206748" cy="686625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76980" y="1187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/>
          <a:srcRect b="9672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3929380" y="2711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数据清洗</a:t>
            </a:r>
            <a:endParaRPr lang="en-US" sz="1600" dirty="0"/>
          </a:p>
        </p:txBody>
      </p:sp>
      <p:pic>
        <p:nvPicPr>
          <p:cNvPr id="12" name="图片 11" descr="屏幕截图 2025-12-05 1409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8515"/>
            <a:ext cx="10160000" cy="60375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179050" y="2937510"/>
            <a:ext cx="2027555" cy="2351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200" b="1" i="1"/>
              <a:t>   </a:t>
            </a:r>
            <a:r>
              <a:rPr lang="en-US" altLang="zh-CN" sz="2200" i="1"/>
              <a:t> </a:t>
            </a:r>
            <a:r>
              <a:rPr lang="zh-CN" altLang="en-US" sz="2200" i="1"/>
              <a:t>依据原文的空间分布以及情感高频词的爬取结果</a:t>
            </a:r>
            <a:endParaRPr lang="zh-CN" altLang="en-US" sz="2200" i="1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0-d2sjlp61bb2p4onbqabg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201772" cy="68634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6529" y="3429000"/>
            <a:ext cx="600331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</a:t>
            </a:r>
            <a:r>
              <a:rPr lang="zh-CN" altLang="en-US" sz="3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分析</a:t>
            </a:r>
            <a:r>
              <a:rPr lang="en-US" sz="3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与关联模型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680324" y="2117249"/>
            <a:ext cx="6762322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CHAPTER.03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396133" y="0"/>
            <a:ext cx="575002" cy="762000"/>
          </a:xfrm>
          <a:prstGeom prst="rect">
            <a:avLst/>
          </a:prstGeom>
          <a:solidFill>
            <a:srgbClr val="A20F11"/>
          </a:solidFill>
        </p:spPr>
      </p:sp>
      <p:sp>
        <p:nvSpPr>
          <p:cNvPr id="6" name="Text 3"/>
          <p:cNvSpPr/>
          <p:nvPr/>
        </p:nvSpPr>
        <p:spPr>
          <a:xfrm>
            <a:off x="11396133" y="0"/>
            <a:ext cx="575002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9-d2sjlre1bb2p4onbqarg.pn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4128"/>
            <a:ext cx="12206748" cy="686625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76980" y="1187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/>
          <a:srcRect b="9672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3929380" y="2711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空间地点词汇数分析</a:t>
            </a:r>
            <a:endParaRPr lang="en-US" sz="16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9470"/>
            <a:ext cx="8125460" cy="60293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386445" y="986155"/>
            <a:ext cx="380555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+mn-ea"/>
                <a:cs typeface="+mn-ea"/>
              </a:rPr>
              <a:t>      </a:t>
            </a:r>
            <a:r>
              <a:rPr lang="zh-CN" altLang="en-US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我们利用</a:t>
            </a:r>
            <a:r>
              <a:rPr lang="en-US" alt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</a:t>
            </a:r>
            <a:r>
              <a:rPr lang="zh-CN" altLang="en-US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爬取了《罗杰疑案》《无人生还》《东方快车谋杀案》三本最著名的作品，对其中的出现的地点进行了数据收集及清洗。并对其进行了分析，得到了以下图表：</a:t>
            </a:r>
            <a:endParaRPr lang="en-US" altLang="zh-CN"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/>
            <a:r>
              <a:rPr lang="en-US" alt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1.Top15 </a:t>
            </a:r>
            <a:r>
              <a:rPr lang="zh-CN" altLang="en-US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词频柱状图：直观展示核心地点的使用频次</a:t>
            </a:r>
            <a:endParaRPr lang="zh-CN" altLang="en-US"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/>
            <a:r>
              <a:rPr lang="en-US" alt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2.</a:t>
            </a:r>
            <a:r>
              <a:rPr lang="zh-CN" altLang="en-US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词频区间饼图：呈现不同频次区间的地点分布比例</a:t>
            </a:r>
            <a:endParaRPr lang="zh-CN" altLang="en-US"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/>
            <a:r>
              <a:rPr lang="en-US" alt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3.</a:t>
            </a:r>
            <a:r>
              <a:rPr lang="zh-CN" altLang="en-US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场景类型词频图：对比各类型场景的总词频贡献</a:t>
            </a:r>
            <a:endParaRPr lang="zh-CN" altLang="en-US"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/>
            <a:r>
              <a:rPr lang="en-US" alt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4.</a:t>
            </a:r>
            <a:r>
              <a:rPr lang="zh-CN" altLang="en-US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词频累积分布曲线：量化场景集中度特征</a:t>
            </a:r>
            <a:endParaRPr lang="en-US" altLang="zh-CN"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9-d2sjlre1bb2p4onbqarg.pn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4128"/>
            <a:ext cx="12206748" cy="686625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76980" y="1187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/>
          <a:srcRect b="9672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3929380" y="2711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词云分析</a:t>
            </a:r>
            <a:endParaRPr lang="en-US" sz="16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42" y="1202466"/>
            <a:ext cx="5128104" cy="479529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945" y="1310005"/>
            <a:ext cx="5680075" cy="460248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87350" y="20955"/>
            <a:ext cx="3162300" cy="747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《罗杰疑案》</a:t>
            </a:r>
            <a:endParaRPr lang="zh-CN" altLang="en-US" sz="3600"/>
          </a:p>
        </p:txBody>
      </p:sp>
      <p:sp>
        <p:nvSpPr>
          <p:cNvPr id="14" name="文本框 13"/>
          <p:cNvSpPr txBox="1"/>
          <p:nvPr/>
        </p:nvSpPr>
        <p:spPr>
          <a:xfrm>
            <a:off x="1410970" y="6282690"/>
            <a:ext cx="2925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小说中空间变化词云图</a:t>
            </a:r>
            <a:endParaRPr lang="zh-CN" altLang="en-US" sz="2000"/>
          </a:p>
        </p:txBody>
      </p:sp>
      <p:sp>
        <p:nvSpPr>
          <p:cNvPr id="13" name="文本框 12"/>
          <p:cNvSpPr txBox="1"/>
          <p:nvPr/>
        </p:nvSpPr>
        <p:spPr>
          <a:xfrm>
            <a:off x="7588885" y="6282690"/>
            <a:ext cx="2925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小说中</a:t>
            </a:r>
            <a:r>
              <a:rPr lang="zh-CN" altLang="en-US" sz="2000"/>
              <a:t>情绪变化词云图</a:t>
            </a:r>
            <a:endParaRPr lang="zh-CN" altLang="en-US" sz="200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9-d2sjlre1bb2p4onbqarg.pn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4128"/>
            <a:ext cx="12206748" cy="6866255"/>
          </a:xfrm>
          <a:prstGeom prst="rect">
            <a:avLst/>
          </a:prstGeom>
        </p:spPr>
      </p:pic>
      <p:sp>
        <p:nvSpPr>
          <p:cNvPr id="3" name="Shape 0"/>
          <p:cNvSpPr/>
          <p:nvPr>
            <p:custDataLst>
              <p:tags r:id="rId2"/>
            </p:custDataLst>
          </p:nvPr>
        </p:nvSpPr>
        <p:spPr>
          <a:xfrm>
            <a:off x="1294088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4171846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710600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1006561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76980" y="1187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/>
          <a:srcRect b="9672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3929380" y="2711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词云分析</a:t>
            </a:r>
            <a:endParaRPr lang="en-US" sz="1600" dirty="0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34936" y="1939546"/>
            <a:ext cx="5694171" cy="326450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51841" y="2039876"/>
            <a:ext cx="5254764" cy="310254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4950" y="1905"/>
            <a:ext cx="3382010" cy="763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《无人生还》</a:t>
            </a:r>
            <a:endParaRPr lang="zh-CN" altLang="en-US" sz="3600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1619250" y="5582285"/>
            <a:ext cx="2925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小说中空间变化词云图</a:t>
            </a:r>
            <a:endParaRPr lang="zh-CN" altLang="en-US" sz="2000"/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8315960" y="5621020"/>
            <a:ext cx="2925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小说中</a:t>
            </a:r>
            <a:r>
              <a:rPr lang="zh-CN" altLang="en-US" sz="2000"/>
              <a:t>情绪变化词云图</a:t>
            </a:r>
            <a:endParaRPr lang="zh-CN" altLang="en-US" sz="200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9-d2sjlre1bb2p4onbqarg.pn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4128"/>
            <a:ext cx="12206748" cy="686625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76980" y="1187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/>
          <a:srcRect b="9672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3929380" y="2711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词云分析</a:t>
            </a:r>
            <a:endParaRPr lang="en-US" sz="16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629" y="1561086"/>
            <a:ext cx="3819367" cy="4253948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527" y="1535992"/>
            <a:ext cx="3819367" cy="419748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6390" y="71120"/>
            <a:ext cx="4141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《东方</a:t>
            </a:r>
            <a:r>
              <a:rPr lang="zh-CN" altLang="en-US" sz="3600"/>
              <a:t>快车谋杀案》</a:t>
            </a:r>
            <a:endParaRPr lang="zh-CN" altLang="en-US" sz="3600"/>
          </a:p>
        </p:txBody>
      </p:sp>
      <p:sp>
        <p:nvSpPr>
          <p:cNvPr id="13" name="文本框 12"/>
          <p:cNvSpPr txBox="1"/>
          <p:nvPr/>
        </p:nvSpPr>
        <p:spPr>
          <a:xfrm>
            <a:off x="1808480" y="6184900"/>
            <a:ext cx="2925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小说中空间变化词云图</a:t>
            </a:r>
            <a:endParaRPr lang="zh-CN" altLang="en-US" sz="2000"/>
          </a:p>
        </p:txBody>
      </p:sp>
      <p:sp>
        <p:nvSpPr>
          <p:cNvPr id="15" name="文本框 14"/>
          <p:cNvSpPr txBox="1"/>
          <p:nvPr/>
        </p:nvSpPr>
        <p:spPr>
          <a:xfrm>
            <a:off x="7304405" y="6184900"/>
            <a:ext cx="2925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小说中</a:t>
            </a:r>
            <a:r>
              <a:rPr lang="zh-CN" altLang="en-US" sz="2000"/>
              <a:t>情绪变化词云图</a:t>
            </a:r>
            <a:endParaRPr lang="zh-CN" altLang="en-US" sz="200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9-d2sjlre1bb2p4onbqarg.pn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4128"/>
            <a:ext cx="12206748" cy="686625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76980" y="1187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/>
          <a:srcRect b="9672"/>
          <a:stretch>
            <a:fillRect/>
          </a:stretch>
        </p:blipFill>
        <p:spPr>
          <a:xfrm>
            <a:off x="0" y="1270"/>
            <a:ext cx="12893675" cy="725106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3929380" y="271145"/>
            <a:ext cx="789241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zh-CN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SnowNLP</a:t>
            </a:r>
            <a:r>
              <a:rPr lang="zh-CN" altLang="en-US" sz="3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情感分析</a:t>
            </a:r>
            <a:endParaRPr lang="en-US" sz="1600" dirty="0"/>
          </a:p>
        </p:txBody>
      </p:sp>
      <p:pic>
        <p:nvPicPr>
          <p:cNvPr id="2050" name="Picture 2" descr="https://p26-flow-imagex-download-sign.byteimg.com/ocean-cloud-tos/ci/32528563427683330/%25E4%25B8%2589%25E6%259C%25AC%25E4%25B9%25A6%25E6%2583%2585%25E6%2584%259F%25E5%2588%2586%25E6%259E%2590%25E7%25BB%25BC%25E5%2590%2588%25E5%258F%25AF%25E8%25A7%2586%25E5%258C%2596%25E5%259B%25BE%25E8%25A1%25A8.png~tplv-a9rns2rl98-image-face-cut:4781:3540.png?rcl=202512051106405265F20B659AF3818CA0&amp;rk3s=8e244e95&amp;rrcfp=8a172a1a&amp;x-expires=1765509021&amp;x-signature=Xd6oXchn%2F3ZXx8AiL3a8PDF23ww%3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415" y="890270"/>
            <a:ext cx="8144510" cy="5968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 descr="屏幕截图 2025-12-05 1427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" y="2580005"/>
            <a:ext cx="4323080" cy="42818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7465" y="875030"/>
            <a:ext cx="429895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+mn-ea"/>
                <a:cs typeface="+mn-ea"/>
              </a:rPr>
              <a:t>      </a:t>
            </a:r>
            <a:r>
              <a:rPr lang="zh-CN" altLang="en-US" sz="2000">
                <a:latin typeface="+mn-ea"/>
                <a:cs typeface="+mn-ea"/>
              </a:rPr>
              <a:t>我们利用</a:t>
            </a:r>
            <a:r>
              <a:rPr lang="en-US" altLang="zh-CN" sz="2000">
                <a:latin typeface="+mn-ea"/>
                <a:cs typeface="+mn-ea"/>
              </a:rPr>
              <a:t>SnowNLP</a:t>
            </a:r>
            <a:r>
              <a:rPr lang="zh-CN" altLang="en-US" sz="2000">
                <a:latin typeface="+mn-ea"/>
                <a:cs typeface="+mn-ea"/>
              </a:rPr>
              <a:t>对三本书籍进行了情感分析并生成了图表，得出关键结论：三本书均呈现消极情感倾向，这与小说原文</a:t>
            </a:r>
            <a:r>
              <a:rPr lang="zh-CN" altLang="en-US" sz="2000">
                <a:latin typeface="+mn-ea"/>
                <a:cs typeface="+mn-ea"/>
              </a:rPr>
              <a:t>压抑的空间描写，以及整体悬疑风格相符合</a:t>
            </a:r>
            <a:endParaRPr lang="zh-CN" altLang="en-US" sz="2000">
              <a:latin typeface="+mn-ea"/>
              <a:cs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9-d2sjlre1bb2p4onbqarg.pn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4128"/>
            <a:ext cx="12206748" cy="6866255"/>
          </a:xfrm>
          <a:prstGeom prst="rect">
            <a:avLst/>
          </a:prstGeom>
        </p:spPr>
      </p:pic>
      <p:sp>
        <p:nvSpPr>
          <p:cNvPr id="3" name="Shape 0"/>
          <p:cNvSpPr/>
          <p:nvPr>
            <p:custDataLst>
              <p:tags r:id="rId2"/>
            </p:custDataLst>
          </p:nvPr>
        </p:nvSpPr>
        <p:spPr>
          <a:xfrm>
            <a:off x="1294088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1294088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4171846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4171846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710600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710600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10065615" y="1396594"/>
            <a:ext cx="164492" cy="164492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10065615" y="1396594"/>
            <a:ext cx="164492" cy="1644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76980" y="118745"/>
            <a:ext cx="789241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数据收集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/>
          <a:srcRect b="9672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3929380" y="271145"/>
            <a:ext cx="789241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MiSans" panose="00000500000000000000" pitchFamily="34" charset="-120"/>
              </a:rPr>
              <a:t>分级分词</a:t>
            </a:r>
            <a:r>
              <a:rPr lang="zh-CN" altLang="en-US" sz="36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MiSans" panose="00000500000000000000" pitchFamily="34" charset="-120"/>
              </a:rPr>
              <a:t>分析</a:t>
            </a:r>
            <a:endParaRPr lang="zh-CN" altLang="en-US" sz="36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MiSans" panose="00000500000000000000" pitchFamily="34" charset="-12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4950" y="1905"/>
            <a:ext cx="3382010" cy="763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600"/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445385" y="6030595"/>
            <a:ext cx="2925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博拉</a:t>
            </a:r>
            <a:r>
              <a:rPr lang="zh-CN" altLang="en-US" sz="2000"/>
              <a:t>图</a:t>
            </a:r>
            <a:endParaRPr lang="zh-CN" altLang="en-US" sz="2000"/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8500745" y="6429375"/>
            <a:ext cx="2925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网络关系图</a:t>
            </a:r>
            <a:endParaRPr lang="zh-CN" altLang="en-US" sz="20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265" y="1270635"/>
            <a:ext cx="5816600" cy="464566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5580" y="1074420"/>
            <a:ext cx="5276215" cy="52851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0-d2sjlp61bb2p4onbqabg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7630" y="0"/>
            <a:ext cx="12201772" cy="68634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80324" y="3429000"/>
            <a:ext cx="600331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研究结论</a:t>
            </a:r>
            <a:endParaRPr lang="zh-CN" altLang="en-US" sz="3600" b="1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80324" y="2117249"/>
            <a:ext cx="6762322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CHAPTER.04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396133" y="0"/>
            <a:ext cx="575002" cy="762000"/>
          </a:xfrm>
          <a:prstGeom prst="rect">
            <a:avLst/>
          </a:prstGeom>
          <a:solidFill>
            <a:srgbClr val="A20F11"/>
          </a:solidFill>
        </p:spPr>
      </p:sp>
      <p:sp>
        <p:nvSpPr>
          <p:cNvPr id="6" name="Text 3"/>
          <p:cNvSpPr/>
          <p:nvPr/>
        </p:nvSpPr>
        <p:spPr>
          <a:xfrm>
            <a:off x="11396133" y="0"/>
            <a:ext cx="575002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6-d2sjlqm1bb2p4onbqamg.pn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4128"/>
            <a:ext cx="12206748" cy="68662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08408"/>
            <a:ext cx="6722278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0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MiSans" panose="00000500000000000000" pitchFamily="34" charset="-120"/>
              </a:rPr>
              <a:t>三本小说的空间</a:t>
            </a:r>
            <a:r>
              <a:rPr lang="zh-CN" altLang="en-US" sz="40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MiSans" panose="00000500000000000000" pitchFamily="34" charset="-120"/>
              </a:rPr>
              <a:t>原型</a:t>
            </a:r>
            <a:endParaRPr lang="zh-CN" altLang="en-US" sz="4000" b="1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4" name="Text 1"/>
          <p:cNvSpPr/>
          <p:nvPr>
            <p:custDataLst>
              <p:tags r:id="rId2"/>
            </p:custDataLst>
          </p:nvPr>
        </p:nvSpPr>
        <p:spPr>
          <a:xfrm>
            <a:off x="1023182" y="1686760"/>
            <a:ext cx="2991244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《无人生还》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——</a:t>
            </a:r>
            <a:r>
              <a:rPr lang="zh-CN" altLang="en-US" sz="2400" dirty="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孤岛（士兵岛）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323698" y="3032220"/>
            <a:ext cx="3555990" cy="2168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物理特质：与世隔绝，天气恶劣，无处可逃。</a:t>
            </a:r>
            <a:endParaRPr lang="zh-CN" altLang="en-US" sz="1500" dirty="0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象征意义：审判场、人性的试验室、一个被精心设计的</a:t>
            </a:r>
            <a:r>
              <a:rPr lang="en-US" altLang="zh-CN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“</a:t>
            </a: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地狱</a:t>
            </a:r>
            <a:r>
              <a:rPr lang="en-US" altLang="zh-CN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”</a:t>
            </a: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模型。</a:t>
            </a:r>
            <a:endParaRPr lang="zh-CN" altLang="en-US" sz="1500" dirty="0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秩序特点：由童谣和陶瓷小人预设的</a:t>
            </a:r>
            <a:r>
              <a:rPr lang="en-US" altLang="zh-CN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“</a:t>
            </a: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死亡秩序</a:t>
            </a:r>
            <a:r>
              <a:rPr lang="en-US" altLang="zh-CN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”</a:t>
            </a: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，取代了社会秩序。</a:t>
            </a:r>
            <a:endParaRPr lang="zh-CN" altLang="en-US" sz="1500" dirty="0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5007610" y="1686560"/>
            <a:ext cx="3321685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《东方快车谋杀案》</a:t>
            </a:r>
            <a:endParaRPr lang="zh-CN" altLang="en-US" sz="2400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——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列车</a:t>
            </a:r>
            <a:endParaRPr lang="zh-CN" altLang="en-US" sz="2400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4312513" y="3032220"/>
            <a:ext cx="3555990" cy="2168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物理特质：高速移动的钢铁长廊，包厢隔开私密与公共空间。</a:t>
            </a:r>
            <a:endParaRPr lang="zh-CN" altLang="en-US" sz="1500" dirty="0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象征意义：微缩的流动社会，一个</a:t>
            </a:r>
            <a:r>
              <a:rPr lang="en-US" altLang="zh-CN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“</a:t>
            </a: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法外之地</a:t>
            </a:r>
            <a:r>
              <a:rPr lang="en-US" altLang="zh-CN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”</a:t>
            </a: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的临时法庭。</a:t>
            </a:r>
            <a:endParaRPr lang="zh-CN" altLang="en-US" sz="1500" dirty="0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秩序特点：表面是车厢等级秩序，内里是精心策划的</a:t>
            </a:r>
            <a:r>
              <a:rPr lang="en-US" altLang="zh-CN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“</a:t>
            </a: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共谋秩序</a:t>
            </a:r>
            <a:r>
              <a:rPr lang="en-US" altLang="zh-CN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”</a:t>
            </a: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。</a:t>
            </a:r>
            <a:endParaRPr lang="zh-CN" altLang="en-US" sz="1500" dirty="0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9052034" y="1686758"/>
            <a:ext cx="2991244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WPS灵秀黑" charset="-122"/>
                <a:ea typeface="WPS灵秀黑" charset="-122"/>
                <a:cs typeface="WPS灵秀黑" charset="-122"/>
              </a:rPr>
              <a:t>《罗杰疑案》</a:t>
            </a:r>
            <a:r>
              <a:rPr lang="en-US" altLang="zh-CN" sz="2400" dirty="0">
                <a:latin typeface="WPS灵秀黑" charset="-122"/>
                <a:ea typeface="WPS灵秀黑" charset="-122"/>
                <a:cs typeface="WPS灵秀黑" charset="-122"/>
              </a:rPr>
              <a:t>——</a:t>
            </a:r>
            <a:r>
              <a:rPr lang="zh-CN" altLang="en-US" sz="2400" dirty="0">
                <a:latin typeface="WPS灵秀黑" charset="-122"/>
                <a:ea typeface="WPS灵秀黑" charset="-122"/>
                <a:cs typeface="WPS灵秀黑" charset="-122"/>
              </a:rPr>
              <a:t>乡村庄园（费恩利府）</a:t>
            </a:r>
            <a:endParaRPr lang="zh-CN" altLang="en-US" sz="2400" dirty="0">
              <a:latin typeface="WPS灵秀黑" charset="-122"/>
              <a:ea typeface="WPS灵秀黑" charset="-122"/>
              <a:cs typeface="WPS灵秀黑" charset="-122"/>
            </a:endParaRPr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8329223" y="3032220"/>
            <a:ext cx="3555990" cy="2168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物理特质：宁静英国乡村中的封闭宅邸，花园、书房、房间结构清晰。</a:t>
            </a:r>
            <a:endParaRPr lang="zh-CN" altLang="en-US" sz="1500" dirty="0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象征意义：传统英国社会秩序的缩影，体面下隐藏着秘密与压抑。</a:t>
            </a:r>
            <a:endParaRPr lang="zh-CN" altLang="en-US" sz="1500" dirty="0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秩序特点：由血缘、阶级和邻里关系维系的乡土秩序。</a:t>
            </a:r>
            <a:endParaRPr lang="en-US" sz="1500" dirty="0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1-d2sjlpe1bb2p4onbqahg.jpe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-14605" y="-19416"/>
            <a:ext cx="12206748" cy="68777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3224" y="170725"/>
            <a:ext cx="6828139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600" dirty="0"/>
              <a:t>空间的问题</a:t>
            </a:r>
            <a:r>
              <a:rPr lang="zh-CN" altLang="en-US" sz="3600" dirty="0"/>
              <a:t>化</a:t>
            </a:r>
            <a:endParaRPr lang="zh-CN" alt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57470" y="2232025"/>
            <a:ext cx="5996305" cy="657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1" descr="https://kimi-img.moonshot.cn/pub/slides/slides_tmpl/image/25-09-04-15:08:21-d2sjlpe1bb2p4onbqaf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515" y="170815"/>
            <a:ext cx="1589405" cy="3702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42205" y="1938020"/>
            <a:ext cx="6573520" cy="33026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空间作为永恒存在，自从有了文明，就被当作研究对象，哲人们一直试图弄清空间的本质和特征。理性主义崇尚抽象思维，逻辑推理，认为只有经过抽象归纳才能找到事物的本质，因此随着欧几里得几何学的兴起，空间变得可以被标注和计算。因此，空间被抽象化为万物的容器与背景，与人的主观能动性无关，所以空间被</a:t>
            </a:r>
            <a:r>
              <a:rPr lang="en-US" altLang="zh-CN" sz="1400" dirty="0">
                <a:solidFill>
                  <a:schemeClr val="bg1"/>
                </a:solidFill>
              </a:rPr>
              <a:t>"</a:t>
            </a:r>
            <a:r>
              <a:rPr lang="zh-CN" altLang="en-US" sz="1400" dirty="0">
                <a:solidFill>
                  <a:schemeClr val="bg1"/>
                </a:solidFill>
              </a:rPr>
              <a:t>空洞化</a:t>
            </a:r>
            <a:r>
              <a:rPr lang="en-US" altLang="zh-CN" sz="1400" dirty="0">
                <a:solidFill>
                  <a:schemeClr val="bg1"/>
                </a:solidFill>
              </a:rPr>
              <a:t>""</a:t>
            </a:r>
            <a:r>
              <a:rPr lang="zh-CN" altLang="en-US" sz="1400" dirty="0">
                <a:solidFill>
                  <a:schemeClr val="bg1"/>
                </a:solidFill>
              </a:rPr>
              <a:t>同质化</a:t>
            </a:r>
            <a:r>
              <a:rPr lang="en-US" altLang="zh-CN" sz="1400" dirty="0">
                <a:solidFill>
                  <a:schemeClr val="bg1"/>
                </a:solidFill>
              </a:rPr>
              <a:t>"</a:t>
            </a:r>
            <a:r>
              <a:rPr lang="zh-CN" altLang="en-US" sz="1400" dirty="0">
                <a:solidFill>
                  <a:schemeClr val="bg1"/>
                </a:solidFill>
              </a:rPr>
              <a:t>。在这种背景下，虽然空间的客观性得到承认，但人们往往无视空间的存在，认为空间只是</a:t>
            </a:r>
            <a:r>
              <a:rPr lang="en-US" altLang="zh-CN" sz="1400" dirty="0">
                <a:solidFill>
                  <a:schemeClr val="bg1"/>
                </a:solidFill>
              </a:rPr>
              <a:t>"</a:t>
            </a:r>
            <a:r>
              <a:rPr lang="zh-CN" altLang="en-US" sz="1400" dirty="0">
                <a:solidFill>
                  <a:schemeClr val="bg1"/>
                </a:solidFill>
              </a:rPr>
              <a:t>所有生产得以进行的地方</a:t>
            </a:r>
            <a:r>
              <a:rPr lang="en-US" altLang="zh-CN" sz="1400" dirty="0">
                <a:solidFill>
                  <a:schemeClr val="bg1"/>
                </a:solidFill>
              </a:rPr>
              <a:t>"</a:t>
            </a:r>
            <a:r>
              <a:rPr lang="zh-CN" altLang="en-US" sz="1400" dirty="0">
                <a:solidFill>
                  <a:schemeClr val="bg1"/>
                </a:solidFill>
              </a:rPr>
              <a:t>，其作用可以忽略不计。经验主义则否定了事物存在的客观性，认为人的感知是真知的唯一来源。如贝克莱信奉</a:t>
            </a:r>
            <a:r>
              <a:rPr lang="en-US" altLang="zh-CN" sz="1400" dirty="0">
                <a:solidFill>
                  <a:schemeClr val="bg1"/>
                </a:solidFill>
              </a:rPr>
              <a:t>"</a:t>
            </a:r>
            <a:r>
              <a:rPr lang="zh-CN" altLang="en-US" sz="1400" dirty="0">
                <a:solidFill>
                  <a:schemeClr val="bg1"/>
                </a:solidFill>
              </a:rPr>
              <a:t>存在就是被感知</a:t>
            </a:r>
            <a:r>
              <a:rPr lang="en-US" altLang="zh-CN" sz="1400" dirty="0">
                <a:solidFill>
                  <a:schemeClr val="bg1"/>
                </a:solidFill>
              </a:rPr>
              <a:t>"</a:t>
            </a:r>
            <a:r>
              <a:rPr lang="zh-CN" altLang="en-US" sz="1400" dirty="0">
                <a:solidFill>
                  <a:schemeClr val="bg1"/>
                </a:solidFill>
              </a:rPr>
              <a:t>。在经验主义眼中，空间只有被感官感知才能存在因此他们倾心于研究心理空间。这种物理空间和心理空间的二元辩证法虽扩大了对空间的认识，却依然无法反映空间的全貌。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0-d2sjlp61bb2p4onbqad0.jpe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-14605" y="-55"/>
            <a:ext cx="12206748" cy="68777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44945" y="546100"/>
            <a:ext cx="4571365" cy="65722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Text 2"/>
          <p:cNvSpPr/>
          <p:nvPr/>
        </p:nvSpPr>
        <p:spPr>
          <a:xfrm>
            <a:off x="6480175" y="546100"/>
            <a:ext cx="4571365" cy="657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058526" y="2299536"/>
            <a:ext cx="184731" cy="1746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14960" y="354330"/>
            <a:ext cx="1437640" cy="191770"/>
          </a:xfrm>
          <a:prstGeom prst="rect">
            <a:avLst/>
          </a:prstGeom>
          <a:solidFill>
            <a:srgbClr val="9C1613"/>
          </a:solidFill>
        </p:spPr>
      </p:sp>
      <p:sp>
        <p:nvSpPr>
          <p:cNvPr id="8" name="Text 5"/>
          <p:cNvSpPr/>
          <p:nvPr/>
        </p:nvSpPr>
        <p:spPr>
          <a:xfrm>
            <a:off x="314960" y="354330"/>
            <a:ext cx="1437640" cy="1917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0" y="599440"/>
            <a:ext cx="4467860" cy="550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最终结论</a:t>
            </a:r>
            <a:endParaRPr lang="zh-CN" altLang="en-US" sz="2800" b="1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14770" y="1231900"/>
            <a:ext cx="5570220" cy="35979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阿加莎小说里的</a:t>
            </a:r>
            <a:r>
              <a:rPr lang="en-US" altLang="zh-CN" sz="1600" dirty="0">
                <a:solidFill>
                  <a:schemeClr val="bg1"/>
                </a:solidFill>
              </a:rPr>
              <a:t> “</a:t>
            </a:r>
            <a:r>
              <a:rPr lang="zh-CN" altLang="en-US" sz="1600" dirty="0">
                <a:solidFill>
                  <a:schemeClr val="bg1"/>
                </a:solidFill>
              </a:rPr>
              <a:t>封闭空间</a:t>
            </a:r>
            <a:r>
              <a:rPr lang="en-US" altLang="zh-CN" sz="1600" dirty="0">
                <a:solidFill>
                  <a:schemeClr val="bg1"/>
                </a:solidFill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</a:rPr>
              <a:t>（比如东方快车上、士兵岛上），就像一个专门测试</a:t>
            </a:r>
            <a:r>
              <a:rPr lang="en-US" altLang="zh-CN" sz="1600" dirty="0">
                <a:solidFill>
                  <a:schemeClr val="bg1"/>
                </a:solidFill>
              </a:rPr>
              <a:t> “</a:t>
            </a:r>
            <a:r>
              <a:rPr lang="zh-CN" altLang="en-US" sz="1600" dirty="0">
                <a:solidFill>
                  <a:schemeClr val="bg1"/>
                </a:solidFill>
              </a:rPr>
              <a:t>现代化到底好不好用</a:t>
            </a:r>
            <a:r>
              <a:rPr lang="en-US" altLang="zh-CN" sz="1600" dirty="0">
                <a:solidFill>
                  <a:schemeClr val="bg1"/>
                </a:solidFill>
              </a:rPr>
              <a:t>” </a:t>
            </a:r>
            <a:r>
              <a:rPr lang="zh-CN" altLang="en-US" sz="1600" dirty="0">
                <a:solidFill>
                  <a:schemeClr val="bg1"/>
                </a:solidFill>
              </a:rPr>
              <a:t>的实验室。</a:t>
            </a:r>
            <a:endParaRPr lang="zh-CN" altLang="en-US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里面的火车时刻表、一按就响的管家铃、电灯开关这些现代化发明，本来是想让生活更有秩序、更让人放心</a:t>
            </a:r>
            <a:r>
              <a:rPr lang="en-US" altLang="zh-CN" sz="1600" dirty="0">
                <a:solidFill>
                  <a:schemeClr val="bg1"/>
                </a:solidFill>
              </a:rPr>
              <a:t> —— </a:t>
            </a:r>
            <a:r>
              <a:rPr lang="zh-CN" altLang="en-US" sz="1600" dirty="0">
                <a:solidFill>
                  <a:schemeClr val="bg1"/>
                </a:solidFill>
              </a:rPr>
              <a:t>就像维多利亚时代大家彼此信任、按规矩办事那样。但这些东西被简化成了</a:t>
            </a:r>
            <a:r>
              <a:rPr lang="en-US" altLang="zh-CN" sz="1600" dirty="0">
                <a:solidFill>
                  <a:schemeClr val="bg1"/>
                </a:solidFill>
              </a:rPr>
              <a:t> “</a:t>
            </a:r>
            <a:r>
              <a:rPr lang="zh-CN" altLang="en-US" sz="1600" dirty="0">
                <a:solidFill>
                  <a:schemeClr val="bg1"/>
                </a:solidFill>
              </a:rPr>
              <a:t>必须按流程来</a:t>
            </a:r>
            <a:r>
              <a:rPr lang="en-US" altLang="zh-CN" sz="1600" dirty="0">
                <a:solidFill>
                  <a:schemeClr val="bg1"/>
                </a:solidFill>
              </a:rPr>
              <a:t>” </a:t>
            </a:r>
            <a:r>
              <a:rPr lang="zh-CN" altLang="en-US" sz="1600" dirty="0">
                <a:solidFill>
                  <a:schemeClr val="bg1"/>
                </a:solidFill>
              </a:rPr>
              <a:t>的死板规则（也就是</a:t>
            </a:r>
            <a:r>
              <a:rPr lang="en-US" altLang="zh-CN" sz="1600" dirty="0">
                <a:solidFill>
                  <a:schemeClr val="bg1"/>
                </a:solidFill>
              </a:rPr>
              <a:t> “</a:t>
            </a:r>
            <a:r>
              <a:rPr lang="zh-CN" altLang="en-US" sz="1600" dirty="0">
                <a:solidFill>
                  <a:schemeClr val="bg1"/>
                </a:solidFill>
              </a:rPr>
              <a:t>可重复检验的协议</a:t>
            </a:r>
            <a:r>
              <a:rPr lang="en-US" altLang="zh-CN" sz="1600" dirty="0">
                <a:solidFill>
                  <a:schemeClr val="bg1"/>
                </a:solidFill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</a:rPr>
              <a:t>）。而谋杀案，就像给这个</a:t>
            </a:r>
            <a:r>
              <a:rPr lang="en-US" altLang="zh-CN" sz="1600" dirty="0">
                <a:solidFill>
                  <a:schemeClr val="bg1"/>
                </a:solidFill>
              </a:rPr>
              <a:t> “</a:t>
            </a:r>
            <a:r>
              <a:rPr lang="zh-CN" altLang="en-US" sz="1600" dirty="0">
                <a:solidFill>
                  <a:schemeClr val="bg1"/>
                </a:solidFill>
              </a:rPr>
              <a:t>现代化系统</a:t>
            </a:r>
            <a:r>
              <a:rPr lang="en-US" altLang="zh-CN" sz="1600" dirty="0">
                <a:solidFill>
                  <a:schemeClr val="bg1"/>
                </a:solidFill>
              </a:rPr>
              <a:t>” </a:t>
            </a:r>
            <a:r>
              <a:rPr lang="zh-CN" altLang="en-US" sz="1600" dirty="0">
                <a:solidFill>
                  <a:schemeClr val="bg1"/>
                </a:solidFill>
              </a:rPr>
              <a:t>来了一次极限压力测试：一旦出了人命这种极端情况，那些看似靠谱的规则、先进的工具全不管用了。所谓的</a:t>
            </a:r>
            <a:r>
              <a:rPr lang="en-US" altLang="zh-CN" sz="1600" dirty="0">
                <a:solidFill>
                  <a:schemeClr val="bg1"/>
                </a:solidFill>
              </a:rPr>
              <a:t> “</a:t>
            </a:r>
            <a:r>
              <a:rPr lang="zh-CN" altLang="en-US" sz="1600" dirty="0">
                <a:solidFill>
                  <a:schemeClr val="bg1"/>
                </a:solidFill>
              </a:rPr>
              <a:t>技术能让一切变好</a:t>
            </a:r>
            <a:r>
              <a:rPr lang="en-US" altLang="zh-CN" sz="1600" dirty="0">
                <a:solidFill>
                  <a:schemeClr val="bg1"/>
                </a:solidFill>
              </a:rPr>
              <a:t>” </a:t>
            </a:r>
            <a:r>
              <a:rPr lang="zh-CN" altLang="en-US" sz="1600" dirty="0">
                <a:solidFill>
                  <a:schemeClr val="bg1"/>
                </a:solidFill>
              </a:rPr>
              <a:t>的美好想象（技术乌托邦），很快就崩塌了，露出了人性的贪婪、猜忌和脆弱。简单说：她用封闭环境</a:t>
            </a:r>
            <a:r>
              <a:rPr lang="en-US" altLang="zh-CN" sz="1600" dirty="0">
                <a:solidFill>
                  <a:schemeClr val="bg1"/>
                </a:solidFill>
              </a:rPr>
              <a:t> + </a:t>
            </a:r>
            <a:r>
              <a:rPr lang="zh-CN" altLang="en-US" sz="1600" dirty="0">
                <a:solidFill>
                  <a:schemeClr val="bg1"/>
                </a:solidFill>
              </a:rPr>
              <a:t>谋杀案，测试了</a:t>
            </a:r>
            <a:r>
              <a:rPr lang="en-US" altLang="zh-CN" sz="1600" dirty="0">
                <a:solidFill>
                  <a:schemeClr val="bg1"/>
                </a:solidFill>
              </a:rPr>
              <a:t> “</a:t>
            </a:r>
            <a:r>
              <a:rPr lang="zh-CN" altLang="en-US" sz="1600" dirty="0">
                <a:solidFill>
                  <a:schemeClr val="bg1"/>
                </a:solidFill>
              </a:rPr>
              <a:t>现代化</a:t>
            </a:r>
            <a:r>
              <a:rPr lang="en-US" altLang="zh-CN" sz="1600" dirty="0">
                <a:solidFill>
                  <a:schemeClr val="bg1"/>
                </a:solidFill>
              </a:rPr>
              <a:t>” </a:t>
            </a:r>
            <a:r>
              <a:rPr lang="zh-CN" altLang="en-US" sz="1600" dirty="0">
                <a:solidFill>
                  <a:schemeClr val="bg1"/>
                </a:solidFill>
              </a:rPr>
              <a:t>的真面目</a:t>
            </a:r>
            <a:r>
              <a:rPr lang="en-US" altLang="zh-CN" sz="1600" dirty="0">
                <a:solidFill>
                  <a:schemeClr val="bg1"/>
                </a:solidFill>
              </a:rPr>
              <a:t> —— </a:t>
            </a:r>
            <a:r>
              <a:rPr lang="zh-CN" altLang="en-US" sz="1600" dirty="0">
                <a:solidFill>
                  <a:schemeClr val="bg1"/>
                </a:solidFill>
              </a:rPr>
              <a:t>看似规则井然、技术先进，但在人性的考验面前，其实不堪一击。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0-d2sjlp61bb2p4onbqadg.jpe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0" y="-8310"/>
            <a:ext cx="12206748" cy="68777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980" y="2275840"/>
            <a:ext cx="5084445" cy="657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81700" y="622794"/>
            <a:ext cx="5418999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思考与小</a:t>
            </a:r>
            <a:r>
              <a:rPr lang="zh-CN" altLang="en-US" sz="4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结</a:t>
            </a:r>
            <a:endParaRPr lang="zh-CN" altLang="en-US" sz="4000" b="1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14960" y="354330"/>
            <a:ext cx="1437640" cy="191770"/>
          </a:xfrm>
          <a:prstGeom prst="rect">
            <a:avLst/>
          </a:prstGeom>
          <a:solidFill>
            <a:srgbClr val="9C1613"/>
          </a:solidFill>
        </p:spPr>
      </p:sp>
      <p:sp>
        <p:nvSpPr>
          <p:cNvPr id="7" name="Text 4"/>
          <p:cNvSpPr/>
          <p:nvPr/>
        </p:nvSpPr>
        <p:spPr>
          <a:xfrm>
            <a:off x="314960" y="354330"/>
            <a:ext cx="1437640" cy="1917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60985" y="1889125"/>
            <a:ext cx="5085080" cy="2783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阿加莎的世界告诉我们，绝对的封闭会导致绝对的混乱。</a:t>
            </a:r>
            <a:r>
              <a:rPr lang="en-US" altLang="zh-CN" sz="2000" dirty="0"/>
              <a:t> </a:t>
            </a:r>
            <a:r>
              <a:rPr lang="zh-CN" altLang="en-US" sz="2000" dirty="0"/>
              <a:t>生活的智慧在于，在必要的边界内，勇敢地建立连接、交换信息、寻求真相，从而在每一个微观空间里，完成个人与社会秩序的良性重建。人生如同高速列车，被裹挟前进，方向明确却无法停下，与同路人近在咫尺却心灵遥远。</a:t>
            </a:r>
            <a:endParaRPr lang="zh-CN" altLang="en-US" sz="20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5:08:20-d2sjlp61bb2p4onbqab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20" y="1905"/>
            <a:ext cx="12213590" cy="68700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5:08:31-d2sjlru1bb2p4onbqat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463" y="581384"/>
            <a:ext cx="4424131" cy="5891048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5:08:29-d2sjlre1bb2p4onbqas0.png"/>
          <p:cNvPicPr>
            <a:picLocks noChangeAspect="1"/>
          </p:cNvPicPr>
          <p:nvPr/>
        </p:nvPicPr>
        <p:blipFill>
          <a:blip r:embed="rId3"/>
          <a:srcRect l="-299" t="-1902" r="299" b="23995"/>
          <a:stretch>
            <a:fillRect/>
          </a:stretch>
        </p:blipFill>
        <p:spPr>
          <a:xfrm>
            <a:off x="494030" y="2757805"/>
            <a:ext cx="5479415" cy="134239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075463" y="790276"/>
            <a:ext cx="292290" cy="29229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1"/>
          <p:cNvSpPr/>
          <p:nvPr/>
        </p:nvSpPr>
        <p:spPr>
          <a:xfrm>
            <a:off x="7075463" y="790276"/>
            <a:ext cx="292290" cy="2922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-58997" y="283825"/>
            <a:ext cx="5869459" cy="45719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3"/>
          <p:cNvSpPr/>
          <p:nvPr/>
        </p:nvSpPr>
        <p:spPr>
          <a:xfrm>
            <a:off x="-58997" y="283825"/>
            <a:ext cx="5869459" cy="4571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-82502" y="181124"/>
            <a:ext cx="5869459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5748587" y="139874"/>
            <a:ext cx="81573" cy="81573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11" name="Text 6"/>
          <p:cNvSpPr/>
          <p:nvPr/>
        </p:nvSpPr>
        <p:spPr>
          <a:xfrm>
            <a:off x="5748587" y="139874"/>
            <a:ext cx="81573" cy="8157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231.41653543307092,&quot;left&quot;:543.0059055118111,&quot;top&quot;:263.445905511811,&quot;width&quot;:326.7831496062992}"/>
</p:tagLst>
</file>

<file path=ppt/tags/tag2.xml><?xml version="1.0" encoding="utf-8"?>
<p:tagLst xmlns:p="http://schemas.openxmlformats.org/presentationml/2006/main">
  <p:tag name="KSO_WM_DIAGRAM_VIRTUALLY_FRAME" val="{&quot;height&quot;:231.41653543307092,&quot;left&quot;:543.0059055118111,&quot;top&quot;:263.445905511811,&quot;width&quot;:326.7831496062992}"/>
</p:tagLst>
</file>

<file path=ppt/tags/tag3.xml><?xml version="1.0" encoding="utf-8"?>
<p:tagLst xmlns:p="http://schemas.openxmlformats.org/presentationml/2006/main">
  <p:tag name="KSO_WM_DIAGRAM_VIRTUALLY_FRAME" val="{&quot;height&quot;:231.41653543307092,&quot;left&quot;:543.0059055118111,&quot;top&quot;:263.445905511811,&quot;width&quot;:326.7831496062992}"/>
</p:tagLst>
</file>

<file path=ppt/tags/tag4.xml><?xml version="1.0" encoding="utf-8"?>
<p:tagLst xmlns:p="http://schemas.openxmlformats.org/presentationml/2006/main">
  <p:tag name="KSO_WM_DIAGRAM_VIRTUALLY_FRAME" val="{&quot;height&quot;:231.41653543307092,&quot;left&quot;:543.0059055118111,&quot;top&quot;:263.445905511811,&quot;width&quot;:326.7831496062992}"/>
</p:tagLst>
</file>

<file path=ppt/tags/tag5.xml><?xml version="1.0" encoding="utf-8"?>
<p:tagLst xmlns:p="http://schemas.openxmlformats.org/presentationml/2006/main">
  <p:tag name="KSO_WM_DIAGRAM_VIRTUALLY_FRAME" val="{&quot;height&quot;:231.41653543307092,&quot;left&quot;:543.0059055118111,&quot;top&quot;:263.445905511811,&quot;width&quot;:326.7831496062992}"/>
</p:tagLst>
</file>

<file path=ppt/tags/tag6.xml><?xml version="1.0" encoding="utf-8"?>
<p:tagLst xmlns:p="http://schemas.openxmlformats.org/presentationml/2006/main">
  <p:tag name="KSO_WM_DIAGRAM_VIRTUALLY_FRAME" val="{&quot;height&quot;:231.41653543307092,&quot;left&quot;:543.0059055118111,&quot;top&quot;:263.445905511811,&quot;width&quot;:326.7831496062992}"/>
</p:tagLst>
</file>

<file path=ppt/tags/tag7.xml><?xml version="1.0" encoding="utf-8"?>
<p:tagLst xmlns:p="http://schemas.openxmlformats.org/presentationml/2006/main">
  <p:tag name="KSO_WM_DIAGRAM_VIRTUALLY_FRAME" val="{&quot;height&quot;:231.41653543307092,&quot;left&quot;:543.0059055118111,&quot;top&quot;:263.445905511811,&quot;width&quot;:326.7831496062992}"/>
</p:tagLst>
</file>

<file path=ppt/tags/tag8.xml><?xml version="1.0" encoding="utf-8"?>
<p:tagLst xmlns:p="http://schemas.openxmlformats.org/presentationml/2006/main">
  <p:tag name="KSO_WM_DIAGRAM_VIRTUALLY_FRAME" val="{&quot;height&quot;:231.41653543307092,&quot;left&quot;:543.0059055118111,&quot;top&quot;:263.445905511811,&quot;width&quot;:326.7831496062992}"/>
</p:tagLst>
</file>

<file path=ppt/tags/tag9.xml><?xml version="1.0" encoding="utf-8"?>
<p:tagLst xmlns:p="http://schemas.openxmlformats.org/presentationml/2006/main">
  <p:tag name="KSO_WM_DIAGRAM_VIRTUALLY_FRAME" val="{&quot;height&quot;:925.5625984251968,&quot;left&quot;:16.982755905511812,&quot;top&quot;:192.84488188976377,&quot;width&quot;:927.3661417322835}"/>
</p:tagLst>
</file>

<file path=ppt/tags/tag10.xml><?xml version="1.0" encoding="utf-8"?>
<p:tagLst xmlns:p="http://schemas.openxmlformats.org/presentationml/2006/main">
  <p:tag name="KSO_WM_DIAGRAM_VIRTUALLY_FRAME" val="{&quot;height&quot;:925.5625984251968,&quot;left&quot;:16.982755905511812,&quot;top&quot;:192.84488188976377,&quot;width&quot;:927.3661417322835}"/>
</p:tagLst>
</file>

<file path=ppt/tags/tag11.xml><?xml version="1.0" encoding="utf-8"?>
<p:tagLst xmlns:p="http://schemas.openxmlformats.org/presentationml/2006/main">
  <p:tag name="KSO_WM_DIAGRAM_VIRTUALLY_FRAME" val="{&quot;height&quot;:925.5625984251968,&quot;left&quot;:16.982755905511812,&quot;top&quot;:192.84488188976377,&quot;width&quot;:927.3661417322835}"/>
</p:tagLst>
</file>

<file path=ppt/tags/tag12.xml><?xml version="1.0" encoding="utf-8"?>
<p:tagLst xmlns:p="http://schemas.openxmlformats.org/presentationml/2006/main">
  <p:tag name="KSO_WM_DIAGRAM_VIRTUALLY_FRAME" val="{&quot;height&quot;:925.5625984251968,&quot;left&quot;:16.982755905511812,&quot;top&quot;:192.84488188976377,&quot;width&quot;:927.3661417322835}"/>
</p:tagLst>
</file>

<file path=ppt/tags/tag13.xml><?xml version="1.0" encoding="utf-8"?>
<p:tagLst xmlns:p="http://schemas.openxmlformats.org/presentationml/2006/main">
  <p:tag name="KSO_WM_DIAGRAM_VIRTUALLY_FRAME" val="{&quot;height&quot;:925.5625984251968,&quot;left&quot;:16.982755905511812,&quot;top&quot;:192.84488188976377,&quot;width&quot;:927.3661417322835}"/>
</p:tagLst>
</file>

<file path=ppt/tags/tag14.xml><?xml version="1.0" encoding="utf-8"?>
<p:tagLst xmlns:p="http://schemas.openxmlformats.org/presentationml/2006/main">
  <p:tag name="KSO_WM_DIAGRAM_VIRTUALLY_FRAME" val="{&quot;height&quot;:925.5625984251968,&quot;left&quot;:16.982755905511812,&quot;top&quot;:192.84488188976377,&quot;width&quot;:927.3661417322835}"/>
</p:tagLst>
</file>

<file path=ppt/tags/tag15.xml><?xml version="1.0" encoding="utf-8"?>
<p:tagLst xmlns:p="http://schemas.openxmlformats.org/presentationml/2006/main">
  <p:tag name="KSO_WM_DIAGRAM_VIRTUALLY_FRAME" val="{&quot;height&quot;:364.03196850393704,&quot;left&quot;:18.498897637795288,&quot;top&quot;:109.96803149606299,&quot;width&quot;:942.6511023622046}"/>
</p:tagLst>
</file>

<file path=ppt/tags/tag16.xml><?xml version="1.0" encoding="utf-8"?>
<p:tagLst xmlns:p="http://schemas.openxmlformats.org/presentationml/2006/main">
  <p:tag name="KSO_WM_DIAGRAM_VIRTUALLY_FRAME" val="{&quot;height&quot;:364.03196850393704,&quot;left&quot;:18.498897637795288,&quot;top&quot;:109.96803149606299,&quot;width&quot;:942.6511023622046}"/>
</p:tagLst>
</file>

<file path=ppt/tags/tag17.xml><?xml version="1.0" encoding="utf-8"?>
<p:tagLst xmlns:p="http://schemas.openxmlformats.org/presentationml/2006/main">
  <p:tag name="KSO_WM_DIAGRAM_VIRTUALLY_FRAME" val="{&quot;height&quot;:364.03196850393704,&quot;left&quot;:18.498897637795288,&quot;top&quot;:109.96803149606299,&quot;width&quot;:942.6511023622046}"/>
</p:tagLst>
</file>

<file path=ppt/tags/tag18.xml><?xml version="1.0" encoding="utf-8"?>
<p:tagLst xmlns:p="http://schemas.openxmlformats.org/presentationml/2006/main">
  <p:tag name="KSO_WM_DIAGRAM_VIRTUALLY_FRAME" val="{&quot;height&quot;:364.03196850393704,&quot;left&quot;:18.498897637795288,&quot;top&quot;:109.96803149606299,&quot;width&quot;:942.6511023622046}"/>
</p:tagLst>
</file>

<file path=ppt/tags/tag19.xml><?xml version="1.0" encoding="utf-8"?>
<p:tagLst xmlns:p="http://schemas.openxmlformats.org/presentationml/2006/main">
  <p:tag name="KSO_WM_DIAGRAM_VIRTUALLY_FRAME" val="{&quot;height&quot;:364.03196850393704,&quot;left&quot;:18.498897637795288,&quot;top&quot;:109.96803149606299,&quot;width&quot;:942.6511023622046}"/>
</p:tagLst>
</file>

<file path=ppt/tags/tag20.xml><?xml version="1.0" encoding="utf-8"?>
<p:tagLst xmlns:p="http://schemas.openxmlformats.org/presentationml/2006/main">
  <p:tag name="KSO_WM_DIAGRAM_VIRTUALLY_FRAME" val="{&quot;height&quot;:364.03196850393704,&quot;left&quot;:18.498897637795288,&quot;top&quot;:109.96803149606299,&quot;width&quot;:942.6511023622046}"/>
</p:tagLst>
</file>

<file path=ppt/tags/tag21.xml><?xml version="1.0" encoding="utf-8"?>
<p:tagLst xmlns:p="http://schemas.openxmlformats.org/presentationml/2006/main">
  <p:tag name="KSO_WM_DIAGRAM_VIRTUALLY_FRAME" val="{&quot;height&quot;:364.03196850393704,&quot;left&quot;:18.498897637795288,&quot;top&quot;:109.96803149606299,&quot;width&quot;:942.6511023622046}"/>
</p:tagLst>
</file>

<file path=ppt/tags/tag22.xml><?xml version="1.0" encoding="utf-8"?>
<p:tagLst xmlns:p="http://schemas.openxmlformats.org/presentationml/2006/main">
  <p:tag name="KSO_WM_DIAGRAM_VIRTUALLY_FRAME" val="{&quot;height&quot;:364.03196850393704,&quot;left&quot;:18.498897637795288,&quot;top&quot;:109.96803149606299,&quot;width&quot;:942.6511023622046}"/>
</p:tagLst>
</file>

<file path=ppt/tags/tag23.xml><?xml version="1.0" encoding="utf-8"?>
<p:tagLst xmlns:p="http://schemas.openxmlformats.org/presentationml/2006/main">
  <p:tag name="KSO_WM_DIAGRAM_VIRTUALLY_FRAME" val="{&quot;height&quot;:364.03196850393704,&quot;left&quot;:18.498897637795274,&quot;top&quot;:109.96803149606299,&quot;width&quot;:942.6511023622048}"/>
</p:tagLst>
</file>

<file path=ppt/tags/tag24.xml><?xml version="1.0" encoding="utf-8"?>
<p:tagLst xmlns:p="http://schemas.openxmlformats.org/presentationml/2006/main">
  <p:tag name="KSO_WM_DIAGRAM_VIRTUALLY_FRAME" val="{&quot;height&quot;:364.03196850393704,&quot;left&quot;:18.498897637795274,&quot;top&quot;:109.96803149606299,&quot;width&quot;:942.6511023622048}"/>
</p:tagLst>
</file>

<file path=ppt/tags/tag25.xml><?xml version="1.0" encoding="utf-8"?>
<p:tagLst xmlns:p="http://schemas.openxmlformats.org/presentationml/2006/main">
  <p:tag name="KSO_WM_DIAGRAM_VIRTUALLY_FRAME" val="{&quot;height&quot;:364.03196850393704,&quot;left&quot;:18.498897637795274,&quot;top&quot;:109.96803149606299,&quot;width&quot;:942.6511023622048}"/>
</p:tagLst>
</file>

<file path=ppt/tags/tag26.xml><?xml version="1.0" encoding="utf-8"?>
<p:tagLst xmlns:p="http://schemas.openxmlformats.org/presentationml/2006/main">
  <p:tag name="KSO_WM_DIAGRAM_VIRTUALLY_FRAME" val="{&quot;height&quot;:364.03196850393704,&quot;left&quot;:18.498897637795274,&quot;top&quot;:109.96803149606299,&quot;width&quot;:942.6511023622048}"/>
</p:tagLst>
</file>

<file path=ppt/tags/tag27.xml><?xml version="1.0" encoding="utf-8"?>
<p:tagLst xmlns:p="http://schemas.openxmlformats.org/presentationml/2006/main">
  <p:tag name="KSO_WM_DIAGRAM_VIRTUALLY_FRAME" val="{&quot;height&quot;:364.03196850393704,&quot;left&quot;:18.498897637795274,&quot;top&quot;:109.96803149606299,&quot;width&quot;:942.6511023622048}"/>
</p:tagLst>
</file>

<file path=ppt/tags/tag28.xml><?xml version="1.0" encoding="utf-8"?>
<p:tagLst xmlns:p="http://schemas.openxmlformats.org/presentationml/2006/main">
  <p:tag name="KSO_WM_DIAGRAM_VIRTUALLY_FRAME" val="{&quot;height&quot;:364.03196850393704,&quot;left&quot;:18.498897637795274,&quot;top&quot;:109.96803149606299,&quot;width&quot;:942.6511023622048}"/>
</p:tagLst>
</file>

<file path=ppt/tags/tag29.xml><?xml version="1.0" encoding="utf-8"?>
<p:tagLst xmlns:p="http://schemas.openxmlformats.org/presentationml/2006/main">
  <p:tag name="KSO_WM_DIAGRAM_VIRTUALLY_FRAME" val="{&quot;height&quot;:434.89177165354323,&quot;left&quot;:25.488031496062995,&quot;top&quot;:65.51570866141734,&quot;width&quot;:922.8015748031496}"/>
</p:tagLst>
</file>

<file path=ppt/tags/tag30.xml><?xml version="1.0" encoding="utf-8"?>
<p:tagLst xmlns:p="http://schemas.openxmlformats.org/presentationml/2006/main">
  <p:tag name="KSO_WM_DIAGRAM_VIRTUALLY_FRAME" val="{&quot;height&quot;:434.89177165354323,&quot;left&quot;:25.488031496062995,&quot;top&quot;:65.51570866141734,&quot;width&quot;:922.8015748031496}"/>
</p:tagLst>
</file>

<file path=ppt/tags/tag31.xml><?xml version="1.0" encoding="utf-8"?>
<p:tagLst xmlns:p="http://schemas.openxmlformats.org/presentationml/2006/main">
  <p:tag name="KSO_WM_DIAGRAM_VIRTUALLY_FRAME" val="{&quot;height&quot;:434.89177165354323,&quot;left&quot;:25.488031496062995,&quot;top&quot;:65.51570866141734,&quot;width&quot;:922.8015748031496}"/>
</p:tagLst>
</file>

<file path=ppt/tags/tag32.xml><?xml version="1.0" encoding="utf-8"?>
<p:tagLst xmlns:p="http://schemas.openxmlformats.org/presentationml/2006/main">
  <p:tag name="KSO_WM_DIAGRAM_VIRTUALLY_FRAME" val="{&quot;height&quot;:434.89177165354323,&quot;left&quot;:25.488031496062995,&quot;top&quot;:65.51570866141734,&quot;width&quot;:922.8015748031496}"/>
</p:tagLst>
</file>

<file path=ppt/tags/tag33.xml><?xml version="1.0" encoding="utf-8"?>
<p:tagLst xmlns:p="http://schemas.openxmlformats.org/presentationml/2006/main">
  <p:tag name="KSO_WM_DIAGRAM_VIRTUALLY_FRAME" val="{&quot;height&quot;:434.89177165354323,&quot;left&quot;:25.488031496062995,&quot;top&quot;:65.51570866141734,&quot;width&quot;:922.8015748031496}"/>
</p:tagLst>
</file>

<file path=ppt/tags/tag34.xml><?xml version="1.0" encoding="utf-8"?>
<p:tagLst xmlns:p="http://schemas.openxmlformats.org/presentationml/2006/main">
  <p:tag name="KSO_WM_DIAGRAM_VIRTUALLY_FRAME" val="{&quot;height&quot;:434.89177165354323,&quot;left&quot;:25.488031496062995,&quot;top&quot;:65.51570866141734,&quot;width&quot;:922.8015748031496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2106</Words>
  <Application>WPS 演示</Application>
  <PresentationFormat>宽屏</PresentationFormat>
  <Paragraphs>152</Paragraphs>
  <Slides>21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宋体</vt:lpstr>
      <vt:lpstr>Wingdings</vt:lpstr>
      <vt:lpstr>华文新魏</vt:lpstr>
      <vt:lpstr>MiSans</vt:lpstr>
      <vt:lpstr>MiSans</vt:lpstr>
      <vt:lpstr>Calibri</vt:lpstr>
      <vt:lpstr>等线</vt:lpstr>
      <vt:lpstr>微软雅黑</vt:lpstr>
      <vt:lpstr>Arial Unicode MS</vt:lpstr>
      <vt:lpstr>WPS灵秀黑</vt:lpstr>
      <vt:lpstr>方正小标宋_GBK</vt:lpstr>
      <vt:lpstr>MiSans Semibold</vt:lpstr>
      <vt:lpstr>黑体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阿加莎空间诗学：秩序崩塌与重建</dc:title>
  <dc:creator>Kimi</dc:creator>
  <dc:subject>阿加莎空间诗学：秩序崩塌与重建</dc:subject>
  <cp:lastModifiedBy>WPS_1602067309</cp:lastModifiedBy>
  <cp:revision>19</cp:revision>
  <dcterms:created xsi:type="dcterms:W3CDTF">2025-12-05T01:43:00Z</dcterms:created>
  <dcterms:modified xsi:type="dcterms:W3CDTF">2025-12-08T11:17:57Z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{"Label":"阿加莎空间诗学：秩序崩塌与重建","ContentProducer":"001191110108MACG2KBH8F10000","ProduceID":"d4p3f2b1cvfbqbnq9330","ReservedCode1":"","ContentPropagator":"001191110108MACG2KBH8F20000","PropagateID":"d4p3f2b1cvfbqbnq9330","ReservedCode2":""}</vt:lpwstr>
  </property>
  <property fmtid="{D5CDD505-2E9C-101B-9397-08002B2CF9AE}" pid="3" name="ICV">
    <vt:lpwstr>4FD0B3569D454D5AB30648F445834319_13</vt:lpwstr>
  </property>
  <property fmtid="{D5CDD505-2E9C-101B-9397-08002B2CF9AE}" pid="4" name="KSOProductBuildVer">
    <vt:lpwstr>2052-12.1.0.24034</vt:lpwstr>
  </property>
</Properties>
</file>